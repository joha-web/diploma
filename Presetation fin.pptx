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32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256032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IT UNIVERSITY  |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 Method for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Mobile Payment Systems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Relay and Skimming Attacks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Security  •  Android HCE  •  Machine Learning  •  HMAC-SHA-256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23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Amirova Akzhibek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256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6B06301 — Cybersecurity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286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C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protecting NFC mobile payments matters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  |  CS-2304  |  Astana IT University  |  June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4864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5720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444752"/>
            <a:ext cx="1005840" cy="32918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84048" y="1444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$10T+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14447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contactless payment volume in 2023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103120"/>
            <a:ext cx="1005840" cy="32918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384048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2103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adoption in Kazakhstan (Kaspi, HalykBank, etc.)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761488"/>
            <a:ext cx="1005840" cy="32918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384048" y="2761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81328" y="27614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assumption: proximity ≠ authorisation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419856"/>
            <a:ext cx="1005840" cy="32918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384048" y="3419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threats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81328" y="34198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attacks &amp; skimming attacks exploit this gap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54864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48463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EXISTING DEFENCES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4447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EMV: no distance-bounding, relay-transparent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0116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Distance-bounding: requires UWB hardware, not commodity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25786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sensors: insufficient alone (adversarially defeated)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1455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detectors: mostly cloud-based, single-attack-type focus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7124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prototype combines sensor + crypto + ML in one Android HCE app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Tasks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C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diploma project set out to achieve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  |  CS-2304  |  Astana IT University  |  June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Design, implement, and validate a multi-layer defence architecture that independently blocks relay and skimming attacks on Android NFC payment systems.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292608" y="1719072"/>
            <a:ext cx="41148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92608" y="17190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" y="1764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" y="2020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&amp; classify 32 existing countermeasures against relay and skimming attacks on NFC.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3"/>
          <p:cNvSpPr/>
          <p:nvPr/>
        </p:nvSpPr>
        <p:spPr>
          <a:xfrm>
            <a:off x="292608" y="2633472"/>
            <a:ext cx="41148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292608" y="26334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" y="2679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9352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HMFPV: a 3-level defence stack (sensor + crypto + ML) with fail-closed logic.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292608" y="3547872"/>
            <a:ext cx="41148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292608" y="35478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5528" y="3593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Prototype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" y="3849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Kotlin: HCE card emulator (SecurePaymentService) + POS terminal (MainActivity).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7190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4681728" y="1719072"/>
            <a:ext cx="41148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4681728" y="17190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84648" y="1764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84648" y="2020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TensorFlow Lite MLP classifier on a synthetic 500-sample NFC transaction dataset.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633472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28"/>
          <p:cNvSpPr/>
          <p:nvPr/>
        </p:nvSpPr>
        <p:spPr>
          <a:xfrm>
            <a:off x="4681728" y="2633472"/>
            <a:ext cx="41148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4681728" y="26334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84648" y="2679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Validation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84648" y="29352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normal, relay, and skimming scenarios on Xiaomi Redmi Note 11 devices.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HMFPV Framework — 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C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Hardware-ML-Freshness-Proximity-Verification: three independent defence layers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  |  CS-2304  |  Astana IT University  |  June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HMFPV Framework — Fail-Closed Defence-in-Depth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640080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274320" y="14630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Accelerometer Gate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76479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linear accelerometer: if phone hasn't moved &gt;0.5 m/s² in last 2000 ms → return 0x6A80 (no token generated)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377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SKIMMING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938528"/>
            <a:ext cx="237744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6309360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ΔtMove &gt; 2000 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64008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274320" y="25603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HMAC-SHA-256 Dynamic Token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86207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Keystore generates time-stamped HMAC-SHA-256 token per transaction. Key never leaves TEE. Tokens expire after 5000 ms.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2651760"/>
            <a:ext cx="2377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6309360" y="2651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REPLAY / SLOW RELAY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035808"/>
            <a:ext cx="2377440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6309360" y="3035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Token age &gt; 5000 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8595360" cy="9601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64008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274320" y="36576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MLP Anomaly Classifier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9593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MLP (16→8→3) classifies transaction using RTT + timeSinceMove. 100% accuracy on test set. &lt;1 ms inference, no cloud needed.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09360" y="3749040"/>
            <a:ext cx="2377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309360" y="3749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FAST RELAY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4133088"/>
            <a:ext cx="23774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6309360" y="4133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RTT &gt; 80 ms → Class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processing overhead: ~7 ms  |  No cloud dependency  |  Works offline  |  Commodity Android hardware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F9540D-8DE2-DEEA-F157-CB17760D3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" y="576675"/>
            <a:ext cx="8263459" cy="4566825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47358E71-2F25-97AE-AF22-2B2359685DB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E03A9-BC38-689E-3649-FB8D1FA17F93}"/>
              </a:ext>
            </a:extLst>
          </p:cNvPr>
          <p:cNvSpPr txBox="1"/>
          <p:nvPr/>
        </p:nvSpPr>
        <p:spPr>
          <a:xfrm>
            <a:off x="109024" y="272534"/>
            <a:ext cx="2092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9282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Implementation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C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security layers integrated into Android HCE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  |  CS-2304  |  Astana IT University  |  June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4864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438912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Accelerometer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371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√(ax²+ay²+az²) &gt; 0.5 m/s²  →  record lastMovementTime
</a:t>
            </a: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Δtmove &gt; 2000 ms → return 0x6A80 (no token, no crypto leak)
</a:t>
            </a: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fixed: </a:t>
            </a: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set to 0L (was currentTimeMillis → bypassed gate)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54864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828032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HMAC-SHA-256 Token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371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Keystore (hardware-backed TEE). Never exported.
</a:t>
            </a: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= "PAYMENT_OK_" ∥ tnow  →  HMAC-SHA-256[0:16]
</a:t>
            </a: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comparison + timestamp age ≤ 5000 ms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438912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Dataset 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743200"/>
            <a:ext cx="1417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384048" y="2743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(0) (n=185)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9280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~ N(20,8²) [5-80ms]  |  tsm ~ U(50-1000ms)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072384"/>
            <a:ext cx="141732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84048" y="30723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(1) (n=155)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92808" y="3072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~ N(250,80²) [80-600ms]  |  tsm ~ U(100-3000ms)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401568"/>
            <a:ext cx="14173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384048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(2) (n=160)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92808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~ N(20,8²) [5-80ms]  |  tsm ~ U(2000-5000ms)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Shape 26"/>
          <p:cNvSpPr/>
          <p:nvPr/>
        </p:nvSpPr>
        <p:spPr>
          <a:xfrm>
            <a:off x="4663440" y="233172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4828032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MLP Classifier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697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Input(2) → Dense(16,ReLU) → Dense(8,ReLU) → Softmax(3)
</a:t>
            </a: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lr=0.001, 100 epochs, 20% validation split
</a:t>
            </a: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— confusion matrix: 0 misclassifications
</a:t>
            </a: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.tflite → on-device inference &lt;1 ms (no cloud)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858768"/>
            <a:ext cx="85953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30"/>
          <p:cNvSpPr/>
          <p:nvPr/>
        </p:nvSpPr>
        <p:spPr>
          <a:xfrm>
            <a:off x="457200" y="39136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330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1.9   •   Android API 34   •   Android Keystore (HW)   •   TensorFlow Lite 2.17   •   TFLite MLP (.tflite)   •   Python / scikit-learn   •   NFC ISO-DEP 106kbps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C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 Xiaomi Redmi Note 11 — 10 transactions per 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  |  CS-2304  |  Astana IT University  |  June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Confusion Matrix (Test Set, n=135)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11480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Relay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 Skim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Skim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1024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 Results (10 transactions each)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206240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6400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4818888" y="1362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Payment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18888" y="1581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SAFE   |   Blocked by: None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18888" y="1783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RTT: 14–38 ms (mean 22 ms)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63440" y="2103120"/>
            <a:ext cx="420624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4663440" y="2103120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818888" y="2139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Attack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18888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BLOCKED   |   Blocked by: L2 (7) + L3 (3)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18888" y="2560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RTT: 195–430 ms (mean 312 ms)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2880360"/>
            <a:ext cx="420624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4663440" y="2880360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4818888" y="2916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Skimming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18888" y="3136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BLOCKED   |   Blocked by: L1 (all 10)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18888" y="33375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RTT: 0x6A80 returned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74320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Performance Overhead</a:t>
            </a:r>
            <a:endParaRPr lang="en-US" sz="11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27248"/>
          <a:ext cx="4114800" cy="1706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(ms)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NFC ISO-DEP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L1: Accelerometer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L2: HMAC sign (Keystore)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L2: HMAC verify (Keystore)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L3: TFLite MLP inference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0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transaction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4663440" y="283464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Shape 24"/>
          <p:cNvSpPr/>
          <p:nvPr/>
        </p:nvSpPr>
        <p:spPr>
          <a:xfrm>
            <a:off x="4663440" y="2834640"/>
            <a:ext cx="54864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5"/>
          <p:cNvSpPr/>
          <p:nvPr/>
        </p:nvSpPr>
        <p:spPr>
          <a:xfrm>
            <a:off x="4828032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Testing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828032" y="3246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motion skimming (10 trials)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828032" y="3438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SAFE — no false positives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828032" y="3703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RF-noisy environment (10 trials)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828032" y="3895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SAFE — RTT max 61 ms &lt; threshold 80 ms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828032" y="4160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token replay &lt;5s (5 trials)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828032" y="43525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BLOCKED at L2/L3 — RTT anomaly detected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Novelty &amp; Comparative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C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HMFPV vs. existing solutions across six criteria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  |  CS-2304  |  Astana IT University  |  June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194563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Detect.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Skimming Prot.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HW Keystore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HCE Compat.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Spec. HW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EMV 3DS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Distance-Bound.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/ UWB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Fraud Det.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HMFPV (this work)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(Novelty)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3657600"/>
            <a:ext cx="4114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292608" y="3675888"/>
            <a:ext cx="274320" cy="46634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292608" y="3675888"/>
            <a:ext cx="274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7033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published architecture combining accelerometer gate + hardware Keystore cryptography + on-device ML in a single Android HCE app requiring no specialised hardware.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3657600"/>
            <a:ext cx="4114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1"/>
          <p:cNvSpPr/>
          <p:nvPr/>
        </p:nvSpPr>
        <p:spPr>
          <a:xfrm>
            <a:off x="4590288" y="3675888"/>
            <a:ext cx="274320" cy="46634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4590288" y="3675888"/>
            <a:ext cx="274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37760" y="37033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bug fix: lastMovementTime init to 0L prevents the first 2 s bypass — documented as cautionary example of how security invariants can be broken by initialisation errors.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5"/>
          <p:cNvSpPr/>
          <p:nvPr/>
        </p:nvSpPr>
        <p:spPr>
          <a:xfrm>
            <a:off x="292608" y="4270248"/>
            <a:ext cx="274320" cy="466344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292608" y="4270248"/>
            <a:ext cx="2743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429768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Kotlin prototype (POS terminal + HCE card) validated experimentally: 0 false negatives, 0 false positives, ~7 ms overhead.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EC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and planned improvements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Zhumagazy Abylay  |  CS-2304  |  Astana IT University  |  June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0" cy="3566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 rot="16200000">
            <a:off x="274320" y="1005840"/>
            <a:ext cx="640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100584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097280" y="1051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training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280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trained on generated dataset. Field-collected labelled relay traffic would improve real-world generalisation.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170992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1097280" y="17556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2-feature ML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19842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RTT + timeSinceMove. Adding NFC RSSI, Wi-Fi scan delta, gyroscope could reduce edge-case sensitivity.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2414016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1097280" y="24597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truncation (64-bit)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883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MAC truncated to fit NFC packet. Extending to 128-bit would strengthen forgery resistance for longer windows.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311810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1097280" y="31638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Keystore availability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3924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Android devices fall back to software Keystore. HMFPV should detect and warn the user.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" y="3822192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1097280" y="3867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spoofing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0965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shake by attacker bypasses L1. Screen-unlock + accelerometer combination would close this vector.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640080" cy="3566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 rot="16200000">
            <a:off x="4663440" y="1005840"/>
            <a:ext cx="640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100584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25"/>
          <p:cNvSpPr/>
          <p:nvPr/>
        </p:nvSpPr>
        <p:spPr>
          <a:xfrm>
            <a:off x="5394960" y="1005840"/>
            <a:ext cx="54864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5541264" y="105156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 real relay attack RTT traces for model fine-tuning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1709928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28"/>
          <p:cNvSpPr/>
          <p:nvPr/>
        </p:nvSpPr>
        <p:spPr>
          <a:xfrm>
            <a:off x="5394960" y="1709928"/>
            <a:ext cx="54864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5541264" y="175564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Extend feature vector with ambient sensor channels (Markantonakis et al. 2024)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2414016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31"/>
          <p:cNvSpPr/>
          <p:nvPr/>
        </p:nvSpPr>
        <p:spPr>
          <a:xfrm>
            <a:off x="5394960" y="2414016"/>
            <a:ext cx="54864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5541264" y="245973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 on wider device fleet — Keystore hardware availability survey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94960" y="3118104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6" name="Shape 34"/>
          <p:cNvSpPr/>
          <p:nvPr/>
        </p:nvSpPr>
        <p:spPr>
          <a:xfrm>
            <a:off x="5394960" y="3118104"/>
            <a:ext cx="54864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5541264" y="316382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Integrate UWB-based ranging on supported devices (optional Level 4)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3822192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9" name="Shape 37"/>
          <p:cNvSpPr/>
          <p:nvPr/>
        </p:nvSpPr>
        <p:spPr>
          <a:xfrm>
            <a:off x="5394960" y="3822192"/>
            <a:ext cx="54864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5541264" y="38679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Streaming-mode deployment via background service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1E40AF">
              <a:alpha val="30000"/>
            </a:srgbClr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200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60520" cy="1261872"/>
          </a:xfrm>
          <a:prstGeom prst="rect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HMFPV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layers (L1 Sensor + L2 HMAC + L3 MLP) block relay and skimming attacks at hardware, cryptographic, and inference levels simultaneously.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60520" cy="1261872"/>
          </a:xfrm>
          <a:prstGeom prst="rect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Negatives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relay attacks and all 10 skimming attempts blocked in controlled experiments. Zero false positives on legitimate transactions.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160520" cy="1261872"/>
          </a:xfrm>
          <a:prstGeom prst="rect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Overhead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~7 ms added latency per transaction on commodity Android hardware. No cloud dependency, fully offline.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4160520" cy="1261872"/>
          </a:xfrm>
          <a:prstGeom prst="rect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892040" y="2514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Closed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83464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prototype satisfying all 6 criteria simultaneously: relay detection, skimming protection, ML, hardware Keystore, HCE, no special hardware.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|   Zhumagazy Abylay   |   CS-2304   |   Supervisor: PhD Amirova Akzhibek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1516</Words>
  <Application>Microsoft Office PowerPoint</Application>
  <PresentationFormat>Экран (16:9)</PresentationFormat>
  <Paragraphs>242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ABYLAY ZHUMAGAZY</cp:lastModifiedBy>
  <cp:revision>2</cp:revision>
  <dcterms:created xsi:type="dcterms:W3CDTF">2026-05-22T05:53:02Z</dcterms:created>
  <dcterms:modified xsi:type="dcterms:W3CDTF">2026-05-22T07:12:39Z</dcterms:modified>
</cp:coreProperties>
</file>