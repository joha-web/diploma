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  <a:latin typeface="Calibri"/>
              </a:rPr>
              <a:t>ASTANA IT UNIVERSITY  |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Development of a Method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External Penetration Testing of a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Application for Vulnerabilities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88920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61488"/>
            <a:ext cx="82296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Calibri Light"/>
              </a:rPr>
              <a:t>ReconX  •  40+ Reconnaissance Modules  •  AI-Augmented Reporting  •  Active Probes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93C5FD"/>
                </a:solidFill>
                <a:latin typeface="Calibri Light"/>
              </a:rPr>
              <a:t>Student: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383280"/>
            <a:ext cx="3200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Mavlanov Shakhrukh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38328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93C5FD"/>
                </a:solidFill>
                <a:latin typeface="Calibri Light"/>
              </a:rPr>
              <a:t>Group: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383280"/>
            <a:ext cx="3200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CS-2304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93C5FD"/>
                </a:solidFill>
                <a:latin typeface="Calibri Light"/>
              </a:rPr>
              <a:t>Supervisor: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86200"/>
            <a:ext cx="3200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PhD Amirova Akzhibek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88620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93C5FD"/>
                </a:solidFill>
                <a:latin typeface="Calibri Light"/>
              </a:rPr>
              <a:t>Programme: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886200"/>
            <a:ext cx="3200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6B06301 — Cybersecurity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47472"/>
            <a:ext cx="109728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A2B5F"/>
                </a:solidFill>
                <a:latin typeface="Calibri Light"/>
              </a:rPr>
              <a:t>Motivation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229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 Light"/>
              </a:rPr>
              <a:t>Why automated external pentesting matters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 Light"/>
              </a:rPr>
              <a:t>Mavlanov Shakhrukh  |  CS-2304  |  Astana IT University  | 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828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 Light"/>
              </a:rPr>
              <a:t>THE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2011680" cy="12801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828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Calibri Light"/>
              </a:rPr>
              <a:t>70%+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828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Web apps remain the #1 initial breach vector (Verizon DBIR 2024)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325880"/>
            <a:ext cx="2011680" cy="12801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417320"/>
            <a:ext cx="1828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Calibri Light"/>
              </a:rPr>
              <a:t>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920240"/>
            <a:ext cx="1828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Average time to manually triage a moderate external surface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325880"/>
            <a:ext cx="2011680" cy="12801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17320"/>
            <a:ext cx="1828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Calibri Light"/>
              </a:rPr>
              <a:t>Few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920240"/>
            <a:ext cx="1828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Open tools combine recon + probes + AI reporting end-to-end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1325880"/>
            <a:ext cx="2011680" cy="12801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417320"/>
            <a:ext cx="1828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Calibri Light"/>
              </a:rPr>
              <a:t>Noisy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920240"/>
            <a:ext cx="1828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Existing scanners drown analysts in false positives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7889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Calibri Light"/>
              </a:rPr>
              <a:t>GAPS IN EXISTING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63240"/>
            <a:ext cx="3657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Calibri Light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063240"/>
            <a:ext cx="795527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 Light"/>
              </a:rPr>
              <a:t>Nuclei alone — fast, but no contextual triage and no AI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83280"/>
            <a:ext cx="3657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Calibri Light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383280"/>
            <a:ext cx="795527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 Light"/>
              </a:rPr>
              <a:t>Burp Suite Pro — manual, paid, single-target focused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703320"/>
            <a:ext cx="3657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Calibri Light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703320"/>
            <a:ext cx="795527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 Light"/>
              </a:rPr>
              <a:t>Many OSS scanners ship default rules with high false-positive rates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023360"/>
            <a:ext cx="3657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Calibri Light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795527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 Light"/>
              </a:rPr>
              <a:t>No single open project combines passive recon + active probes + per-module false-positive guards + AI-generated client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47472"/>
            <a:ext cx="109728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A2B5F"/>
                </a:solidFill>
                <a:latin typeface="Calibri Light"/>
              </a:rPr>
              <a:t>Research Objectives &amp;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229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 Light"/>
              </a:rPr>
              <a:t>What this diploma project set out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 Light"/>
              </a:rPr>
              <a:t>Mavlanov Shakhrukh  |  CS-2304  |  Astana IT University  |  June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8412480" cy="502920"/>
          </a:xfrm>
          <a:prstGeom prst="roundRect">
            <a:avLst>
              <a:gd name="adj" fmla="val 10000"/>
            </a:avLst>
          </a:prstGeom>
          <a:solidFill>
            <a:srgbClr val="1A2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 Light"/>
              </a:rPr>
              <a:t>Objective: Design and implement an automated external-pentesting framework that discovers attack surface, probes vulnerabilities, and produces an analyst-ready report.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6916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 Ligh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73352"/>
            <a:ext cx="7772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A2B5F"/>
                </a:solidFill>
                <a:latin typeface="Calibri Light"/>
              </a:rPr>
              <a:t>Surface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7772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 Light"/>
              </a:rPr>
              <a:t>Subdomain enumeration, DNS, port scan, tech stack detection, live-host triage.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2258568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258568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 Ligh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40280"/>
            <a:ext cx="7772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A2B5F"/>
                </a:solidFill>
                <a:latin typeface="Calibri Light"/>
              </a:rPr>
              <a:t>Modular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87168"/>
            <a:ext cx="7772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 Light"/>
              </a:rPr>
              <a:t>40+ Python modules sharing a BaseModule contract: independent, configurable, parallel-safe.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282549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825496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807208"/>
            <a:ext cx="7772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A2B5F"/>
                </a:solidFill>
                <a:latin typeface="Calibri Light"/>
              </a:rPr>
              <a:t>Active Vulnerability Probes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54096"/>
            <a:ext cx="7772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 Light"/>
              </a:rPr>
              <a:t>XSS, SQLi, IDOR, SSRF, SSTI, JWT, OAuth, host-header injection, cache poisoning, prototype pollution.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3392424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392424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 Ligh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374136"/>
            <a:ext cx="7772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A2B5F"/>
                </a:solidFill>
                <a:latin typeface="Calibri Light"/>
              </a:rPr>
              <a:t>False-Positive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621024"/>
            <a:ext cx="7772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 Light"/>
              </a:rPr>
              <a:t>Per-module verifiers: SPA-fallback detection, JSON-URI-echo filters, vendor-library skip, repo relevance scoring.</a:t>
            </a:r>
          </a:p>
        </p:txBody>
      </p:sp>
      <p:sp>
        <p:nvSpPr>
          <p:cNvPr id="24" name="Oval 23"/>
          <p:cNvSpPr/>
          <p:nvPr/>
        </p:nvSpPr>
        <p:spPr>
          <a:xfrm>
            <a:off x="411480" y="395935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959352"/>
            <a:ext cx="45720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 Light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941064"/>
            <a:ext cx="77724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A2B5F"/>
                </a:solidFill>
                <a:latin typeface="Calibri Light"/>
              </a:rPr>
              <a:t>AI-Augmented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187952"/>
            <a:ext cx="77724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 Light"/>
              </a:rPr>
              <a:t>Ollama / OpenAI-compatible LLM consumes structured scan data and writes a client-ready Markdown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47472"/>
            <a:ext cx="109728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A2B5F"/>
                </a:solidFill>
                <a:latin typeface="Calibri Light"/>
              </a:rPr>
              <a:t>ReconX Framework —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229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 Light"/>
              </a:rPr>
              <a:t>Three orchestrated stages with fail-isolated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 Light"/>
              </a:rPr>
              <a:t>Mavlanov Shakhrukh  |  CS-2304  |  Astana IT University  |  June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1A2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8229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ReconX — Passive Recon  →  Active Probing  →  AI Synthesis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0876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508760"/>
            <a:ext cx="2743200" cy="411480"/>
          </a:xfrm>
          <a:prstGeom prst="roundRect">
            <a:avLst>
              <a:gd name="adj" fmla="val 10000"/>
            </a:avLst>
          </a:prstGeom>
          <a:solidFill>
            <a:srgbClr val="1A2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63624"/>
            <a:ext cx="2286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L1  Passive Reconnaissance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2468880" cy="1463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 Light"/>
              </a:rPr>
              <a:t>Subdomain enumeration (amass, subfinder, crt.sh), DNS records, WHOIS, ASN lookups, TLS certificate inspection, ICMP + HTTP liveness probing.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2377440" cy="27432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Surfaces every reachable host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246888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2563EB"/>
                </a:solidFill>
                <a:latin typeface="Calibri Light"/>
              </a:rPr>
              <a:t>Modules: recon, webdetect, portscan, techstack, ssl_checker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50876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1508760"/>
            <a:ext cx="2743200" cy="411480"/>
          </a:xfrm>
          <a:prstGeom prst="roundRect">
            <a:avLst>
              <a:gd name="adj" fmla="val 10000"/>
            </a:avLst>
          </a:prstGeom>
          <a:solidFill>
            <a:srgbClr val="1A2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563624"/>
            <a:ext cx="2286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L2  Active Probing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011680"/>
            <a:ext cx="2468880" cy="1463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 Light"/>
              </a:rPr>
              <a:t>Per-vulnerability probes: XSS, SQLi, IDOR/BOLA, SSRF/SSTI, JWT, OAuth, host-header injection, cache poisoning, prototype pollution, JS-secret extraction, takeover detection.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520440"/>
            <a:ext cx="2377440" cy="27432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352044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Generates concrete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840480"/>
            <a:ext cx="246888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2563EB"/>
                </a:solidFill>
                <a:latin typeface="Calibri Light"/>
              </a:rPr>
              <a:t>Modules: fuzzer, xss, sql_injection, idor_probe, 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50876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0" y="1508760"/>
            <a:ext cx="2743200" cy="411480"/>
          </a:xfrm>
          <a:prstGeom prst="roundRect">
            <a:avLst>
              <a:gd name="adj" fmla="val 10000"/>
            </a:avLst>
          </a:prstGeom>
          <a:solidFill>
            <a:srgbClr val="1A2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563624"/>
            <a:ext cx="2286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L3  AI Synthesis &amp;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011680"/>
            <a:ext cx="2468880" cy="1463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 Light"/>
              </a:rPr>
              <a:t>LLM (Ollama / OpenAI-compat) ingests structured findings; deterministic fallback if AI unavailable. Outputs HTML report, JSON dump, and Telegram summary.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520440"/>
            <a:ext cx="2377440" cy="27432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52044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Analyst-ready in minutes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840480"/>
            <a:ext cx="246888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2563EB"/>
                </a:solidFill>
                <a:latin typeface="Calibri Light"/>
              </a:rPr>
              <a:t>Modules: ai_report, asset_risk, correlator,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000" b="1">
                <a:solidFill>
                  <a:srgbClr val="1A2B5F"/>
                </a:solidFill>
                <a:latin typeface="Calibri Light"/>
              </a:rPr>
              <a:t>All 40+ modules share a single BaseModule contract  •  Independent failure domains  •  Parallel-safe  •  Config-driven scope and rate limits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47472"/>
            <a:ext cx="109728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A2B5F"/>
                </a:solidFill>
                <a:latin typeface="Calibri Light"/>
              </a:rPr>
              <a:t>Live Demo — Generated HTML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229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 Light"/>
              </a:rPr>
              <a:t>Real output from a scan against miras.app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 Light"/>
              </a:rPr>
              <a:t>Mavlanov Shakhrukh  |  CS-2304  |  Astana IT University  |  June 2026</a:t>
            </a:r>
          </a:p>
        </p:txBody>
      </p:sp>
      <p:pic>
        <p:nvPicPr>
          <p:cNvPr id="6" name="Picture 5" descr="06_htm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75488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069080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 Light"/>
              </a:rPr>
              <a:t>↑ Report header — risk grade, 20 KPI tiles (subdomains, live hosts, vulnerabilities, CVEs, findings).</a:t>
            </a:r>
          </a:p>
        </p:txBody>
      </p:sp>
      <p:pic>
        <p:nvPicPr>
          <p:cNvPr id="8" name="Picture 7" descr="01_top_risk_ass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005840"/>
            <a:ext cx="3657600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66360" y="3154680"/>
            <a:ext cx="3657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 Light"/>
              </a:rPr>
              <a:t>↑ Top Risk Assets table — per-host score, tier, open ports, CVE/EDB count, confirmed findings.</a:t>
            </a:r>
          </a:p>
        </p:txBody>
      </p:sp>
      <p:pic>
        <p:nvPicPr>
          <p:cNvPr id="10" name="Picture 9" descr="03_live_subdomai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520440"/>
            <a:ext cx="3657600" cy="1188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66360" y="4709160"/>
            <a:ext cx="3657600" cy="182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 Light"/>
              </a:rPr>
              <a:t>↑ Live Subdomains — DNS / ping / HTTP liveness chips.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 Light"/>
              </a:rPr>
              <a:t>Live Demo — Findings, AI Report, Telegram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93C5FD"/>
                </a:solidFill>
                <a:latin typeface="Calibri Light"/>
              </a:rPr>
              <a:t>Three artifacts every scan delivers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02920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5" name="Picture 4" descr="02_all_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846320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480560"/>
            <a:ext cx="5029200" cy="182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3C5FD"/>
                </a:solidFill>
                <a:latin typeface="Calibri Light"/>
              </a:rPr>
              <a:t>All Findings — module · severity · URL · confidence + filters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1188720"/>
            <a:ext cx="342900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8" name="Picture 7" descr="05_ai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34440"/>
            <a:ext cx="3337560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40680" y="2907792"/>
            <a:ext cx="3429000" cy="182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3C5FD"/>
                </a:solidFill>
                <a:latin typeface="Calibri Light"/>
              </a:rPr>
              <a:t>AI Security Analysis (Ollama deepseek-r1)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3154680"/>
            <a:ext cx="342900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Picture 10" descr="04_telegram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200400"/>
            <a:ext cx="1188720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40680" y="4690872"/>
            <a:ext cx="3429000" cy="182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3C5FD"/>
                </a:solidFill>
                <a:latin typeface="Calibri Light"/>
              </a:rPr>
              <a:t>Telegram bot — notify_complete card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47472"/>
            <a:ext cx="109728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A2B5F"/>
                </a:solidFill>
                <a:latin typeface="Calibri Light"/>
              </a:rPr>
              <a:t>Methodology — 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229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 Light"/>
              </a:rPr>
              <a:t>How each layer is built and how false positives are suppressed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 Light"/>
              </a:rPr>
              <a:t>Mavlanov Shakhrukh  |  CS-2304  |  Astana IT University  |  June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4160520" cy="16916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4160520" cy="32004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33272"/>
            <a:ext cx="3977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 Light"/>
              </a:rPr>
              <a:t>Recon &amp; Liveness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Subdomains: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17320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amass + subfinder + crt.sh; deduped, in-scope filtered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09928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Liveness: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709928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DNS / ICMP / HTTP triage — kept only when ≥1 responds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02536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Storage: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002536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per-module JSON under output/&lt;date&gt;_&lt;target&gt;/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005840"/>
            <a:ext cx="4160520" cy="16916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005840"/>
            <a:ext cx="4160520" cy="32004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033272"/>
            <a:ext cx="3977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 Light"/>
              </a:rPr>
              <a:t>Active Probes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41732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Engines: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417320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dalfox (XSS), sqlmap (SQLi), in-house IDOR/SSRF/SSTI/JWT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709928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Markers: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709928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Per-request UUID markers + baseline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002536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Verdict: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002536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candidate / confirmed / manual_review per finding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2788920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" y="2788920"/>
            <a:ext cx="4160520" cy="32004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816352"/>
            <a:ext cx="3977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 Light"/>
              </a:rPr>
              <a:t>False-Positive Guards (this work)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2004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Cache-poison: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200400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drop reflections on no-cache/private responses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493008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Host-header: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493008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downgrade PWA-manifest / canonical reflections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785616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IDOR/BOLA: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3785616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skip cache-buster params and static-asset paths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078224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SSTI / XSS: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078224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reject debugbar JSON-URI echo reflections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37083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Sensitive files: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370832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SPA-fallback baseline + ctype/magic signatures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66344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Secrets: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663440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GitHub repo relevance scoring per target org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17720" y="2788920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17720" y="2788920"/>
            <a:ext cx="4160520" cy="320040"/>
          </a:xfrm>
          <a:prstGeom prst="roundRect">
            <a:avLst>
              <a:gd name="adj" fmla="val 15000"/>
            </a:avLst>
          </a:prstGeom>
          <a:solidFill>
            <a:srgbClr val="1A2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2816352"/>
            <a:ext cx="39776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 Light"/>
              </a:rPr>
              <a:t>Reporting Pipeline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320040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HTML: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6440" y="3200400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Jinja2 templates with filterable finding tables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3493008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AI report: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3493008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Ollama or OpenAI-compatible API; deterministic fallback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3785616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Asset risk: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06440" y="3785616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Weighted score per host → tiered triage list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4078224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Telegram: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6440" y="4078224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Severity-summary bot post on scan completion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4370832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Diff mode: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6440" y="4370832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Compare runs to highlight new/removed findings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4663440"/>
            <a:ext cx="1371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1">
                <a:solidFill>
                  <a:srgbClr val="1A2B5F"/>
                </a:solidFill>
                <a:latin typeface="Calibri Light"/>
              </a:rPr>
              <a:t>Stack: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6440" y="4663440"/>
            <a:ext cx="2880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Python 3.13 • requests • httpx • Jinja2 • python-pptx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47472"/>
            <a:ext cx="109728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A2B5F"/>
                </a:solidFill>
                <a:latin typeface="Calibri Light"/>
              </a:rP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229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 Light"/>
              </a:rPr>
              <a:t>Live scan against miras.app — before vs. after FP-reduction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 Light"/>
              </a:rPr>
              <a:t>Mavlanov Shakhrukh  |  CS-2304  |  Astana IT University  |  June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 Light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 Light"/>
              </a:rPr>
              <a:t>Subdomains discovered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00584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0515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 Light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50876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 Light"/>
              </a:rPr>
              <a:t>Live HTTP hosts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00584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0515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 Light"/>
              </a:rPr>
              <a:t>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0876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 Light"/>
              </a:rPr>
              <a:t>Open 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00584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105156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 Light"/>
              </a:rPr>
              <a:t>89,673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508760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 Light"/>
              </a:rPr>
              <a:t>Endpoints crawled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0574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Calibri Light"/>
              </a:rPr>
              <a:t>FALSE-POSITIVE REDUCTION (per category)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31720"/>
            <a:ext cx="3108960" cy="274320"/>
          </a:xfrm>
          <a:prstGeom prst="rect">
            <a:avLst/>
          </a:prstGeom>
          <a:solidFill>
            <a:srgbClr val="1A2B5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33172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 Light"/>
              </a:rPr>
              <a:t>Bucket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331720"/>
            <a:ext cx="1463040" cy="274320"/>
          </a:xfrm>
          <a:prstGeom prst="rect">
            <a:avLst/>
          </a:prstGeom>
          <a:solidFill>
            <a:srgbClr val="1A2B5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233172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Before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2331720"/>
            <a:ext cx="1463040" cy="274320"/>
          </a:xfrm>
          <a:prstGeom prst="rect">
            <a:avLst/>
          </a:prstGeom>
          <a:solidFill>
            <a:srgbClr val="1A2B5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233172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After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331720"/>
            <a:ext cx="2194560" cy="274320"/>
          </a:xfrm>
          <a:prstGeom prst="rect">
            <a:avLst/>
          </a:prstGeom>
          <a:solidFill>
            <a:srgbClr val="1A2B5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33172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Reduction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06040"/>
            <a:ext cx="310896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60604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Cache poisoning (HIGH)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2606040"/>
            <a:ext cx="146304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60604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73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2606040"/>
            <a:ext cx="146304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260604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~few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606040"/>
            <a:ext cx="219456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60604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↓ ~95%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880360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88036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Host-header reflection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2880360"/>
            <a:ext cx="1463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288036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185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880360"/>
            <a:ext cx="1463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288036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≈30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880360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288036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↓ 84%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154680"/>
            <a:ext cx="310896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1546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IDOR/BOLA candidates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3154680"/>
            <a:ext cx="146304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60" y="315468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200 (cap)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3154680"/>
            <a:ext cx="146304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0" y="315468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≈30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3154680"/>
            <a:ext cx="219456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315468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↓ 85%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429000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42900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Prototype-pollution (HIGH)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0" y="3429000"/>
            <a:ext cx="1463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66160" y="342900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43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37760" y="3429000"/>
            <a:ext cx="1463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0" y="342900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3429000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342900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↓ 100%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3703320"/>
            <a:ext cx="310896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370332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API endpoints classified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4720" y="3703320"/>
            <a:ext cx="146304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66160" y="370332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88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37760" y="3703320"/>
            <a:ext cx="146304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0" y="370332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55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3703320"/>
            <a:ext cx="219456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92240" y="370332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↓ 38%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977640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397764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Auth endpoints classified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74720" y="3977640"/>
            <a:ext cx="1463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66160" y="397764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747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60" y="3977640"/>
            <a:ext cx="1463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0" y="397764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125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3977640"/>
            <a:ext cx="21945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92240" y="397764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↓ 83%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4251960"/>
            <a:ext cx="310896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425196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Interesting directories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474720" y="4251960"/>
            <a:ext cx="146304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566160" y="425196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3,300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37760" y="4251960"/>
            <a:ext cx="146304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0" y="4251960"/>
            <a:ext cx="14630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193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0" y="4251960"/>
            <a:ext cx="219456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92240" y="4251960"/>
            <a:ext cx="219456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↓ 94%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65760" y="4526280"/>
            <a:ext cx="8412480" cy="274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4544568"/>
            <a:ext cx="8229600" cy="24688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 Light"/>
              </a:rPr>
              <a:t>Telegram-bot crash fixed:  ai_report._build_prompt now handles int values in fuzzer.classified (TypeError: object of type 'int' has no len()).</a:t>
            </a:r>
          </a:p>
        </p:txBody>
      </p:sp>
      <p:pic>
        <p:nvPicPr>
          <p:cNvPr id="85" name="Picture 84" descr="01_top_risk_as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74320"/>
            <a:ext cx="228600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47472"/>
            <a:ext cx="109728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A2B5F"/>
                </a:solidFill>
                <a:latin typeface="Calibri Light"/>
              </a:rPr>
              <a:t>Scientific Novelty &amp; 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229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 Light"/>
              </a:rPr>
              <a:t>ReconX vs. existing reconnaissance / scanning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 Light"/>
              </a:rPr>
              <a:t>Mavlanov Shakhrukh  |  CS-2304  |  Astana IT University  | 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011680" cy="274320"/>
          </a:xfrm>
          <a:prstGeom prst="rect">
            <a:avLst/>
          </a:prstGeom>
          <a:solidFill>
            <a:srgbClr val="1A2B5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05840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 Light"/>
              </a:rPr>
              <a:t>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005840"/>
            <a:ext cx="1097280" cy="274320"/>
          </a:xfrm>
          <a:prstGeom prst="rect">
            <a:avLst/>
          </a:prstGeom>
          <a:solidFill>
            <a:srgbClr val="1A2B5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00584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Passive Recon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005840"/>
            <a:ext cx="1097280" cy="274320"/>
          </a:xfrm>
          <a:prstGeom prst="rect">
            <a:avLst/>
          </a:prstGeom>
          <a:solidFill>
            <a:srgbClr val="1A2B5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00584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Active Probes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005840"/>
            <a:ext cx="1005840" cy="274320"/>
          </a:xfrm>
          <a:prstGeom prst="rect">
            <a:avLst/>
          </a:prstGeom>
          <a:solidFill>
            <a:srgbClr val="1A2B5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005840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AI Report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005840"/>
            <a:ext cx="1097280" cy="274320"/>
          </a:xfrm>
          <a:prstGeom prst="rect">
            <a:avLst/>
          </a:prstGeom>
          <a:solidFill>
            <a:srgbClr val="1A2B5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100584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FP Guards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05840"/>
            <a:ext cx="1005840" cy="274320"/>
          </a:xfrm>
          <a:prstGeom prst="rect">
            <a:avLst/>
          </a:prstGeom>
          <a:solidFill>
            <a:srgbClr val="1A2B5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005840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OSS / Free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1005840"/>
            <a:ext cx="1097280" cy="274320"/>
          </a:xfrm>
          <a:prstGeom prst="rect">
            <a:avLst/>
          </a:prstGeom>
          <a:solidFill>
            <a:srgbClr val="1A2B5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100584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Single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280160"/>
            <a:ext cx="201168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280160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Nuclei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1280160"/>
            <a:ext cx="109728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128016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Calibri Light"/>
              </a:rPr>
              <a:t>Limited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1280160"/>
            <a:ext cx="109728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128016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6A34A"/>
                </a:solidFill>
                <a:latin typeface="Calibri Light"/>
              </a:rPr>
              <a:t>Yes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1280160"/>
            <a:ext cx="100584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1280160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DC2626"/>
                </a:solidFill>
                <a:latin typeface="Calibri Light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1280160"/>
            <a:ext cx="109728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128016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Calibri Light"/>
              </a:rPr>
              <a:t>Templates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1280160"/>
            <a:ext cx="100584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1280160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6A34A"/>
                </a:solidFill>
                <a:latin typeface="Calibri Light"/>
              </a:rPr>
              <a:t>Yes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1280160"/>
            <a:ext cx="109728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128016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6A34A"/>
                </a:solidFill>
                <a:latin typeface="Calibri Light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1554480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1554480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Burp Suite Pro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155448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31720" y="155448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DC2626"/>
                </a:solidFill>
                <a:latin typeface="Calibri Light"/>
              </a:rPr>
              <a:t>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155448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155448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6A34A"/>
                </a:solidFill>
                <a:latin typeface="Calibri Light"/>
              </a:rPr>
              <a:t>Yes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155448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1554480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DC2626"/>
                </a:solidFill>
                <a:latin typeface="Calibri Light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155448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155448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Calibri Light"/>
              </a:rPr>
              <a:t>Manual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155448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1554480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DC2626"/>
                </a:solidFill>
                <a:latin typeface="Calibri Light"/>
              </a:rPr>
              <a:t>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155448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5240" y="155448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Calibri Light"/>
              </a:rPr>
              <a:t>Manual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1828800"/>
            <a:ext cx="201168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1828800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OWASP ZAP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1828800"/>
            <a:ext cx="109728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31720" y="182880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Calibri Light"/>
              </a:rPr>
              <a:t>Limited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83280" y="1828800"/>
            <a:ext cx="109728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29000" y="182880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6A34A"/>
                </a:solidFill>
                <a:latin typeface="Calibri Light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80560" y="1828800"/>
            <a:ext cx="100584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6280" y="1828800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DC2626"/>
                </a:solidFill>
                <a:latin typeface="Calibri Light"/>
              </a:rPr>
              <a:t>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0" y="1828800"/>
            <a:ext cx="109728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32120" y="182880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Calibri Light"/>
              </a:rPr>
              <a:t>Limited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1828800"/>
            <a:ext cx="100584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1828800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6A34A"/>
                </a:solidFill>
                <a:latin typeface="Calibri Light"/>
              </a:rPr>
              <a:t>Yes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0" y="1828800"/>
            <a:ext cx="109728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35240" y="182880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Calibri Light"/>
              </a:rPr>
              <a:t>Manual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2103120"/>
            <a:ext cx="20116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2103120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Amass + Subfinder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0" y="210312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210312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6A34A"/>
                </a:solidFill>
                <a:latin typeface="Calibri Light"/>
              </a:rPr>
              <a:t>Yes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83280" y="210312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29000" y="210312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DC2626"/>
                </a:solidFill>
                <a:latin typeface="Calibri Light"/>
              </a:rPr>
              <a:t>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80560" y="210312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26280" y="2103120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DC2626"/>
                </a:solidFill>
                <a:latin typeface="Calibri Light"/>
              </a:rPr>
              <a:t>No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0" y="210312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32120" y="210312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2B5F"/>
                </a:solidFill>
                <a:latin typeface="Calibri Light"/>
              </a:rPr>
              <a:t>n/a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0" y="2103120"/>
            <a:ext cx="10058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29400" y="2103120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6A34A"/>
                </a:solidFill>
                <a:latin typeface="Calibri Light"/>
              </a:rPr>
              <a:t>Yes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89520" y="210312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35240" y="210312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Calibri Light"/>
              </a:rPr>
              <a:t>Partial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2377440"/>
            <a:ext cx="2011680" cy="274320"/>
          </a:xfrm>
          <a:prstGeom prst="rect">
            <a:avLst/>
          </a:prstGeom>
          <a:solidFill>
            <a:srgbClr val="2563EB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" y="2377440"/>
            <a:ext cx="20116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 Light"/>
              </a:rPr>
              <a:t>ReconX (this work)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0" y="2377440"/>
            <a:ext cx="1097280" cy="274320"/>
          </a:xfrm>
          <a:prstGeom prst="rect">
            <a:avLst/>
          </a:prstGeom>
          <a:solidFill>
            <a:srgbClr val="2563EB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31720" y="237744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Yes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83280" y="2377440"/>
            <a:ext cx="1097280" cy="274320"/>
          </a:xfrm>
          <a:prstGeom prst="rect">
            <a:avLst/>
          </a:prstGeom>
          <a:solidFill>
            <a:srgbClr val="2563EB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29000" y="237744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Yes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480560" y="2377440"/>
            <a:ext cx="1005840" cy="274320"/>
          </a:xfrm>
          <a:prstGeom prst="rect">
            <a:avLst/>
          </a:prstGeom>
          <a:solidFill>
            <a:srgbClr val="2563EB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26280" y="2377440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Yes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0" y="2377440"/>
            <a:ext cx="1097280" cy="274320"/>
          </a:xfrm>
          <a:prstGeom prst="rect">
            <a:avLst/>
          </a:prstGeom>
          <a:solidFill>
            <a:srgbClr val="2563EB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32120" y="237744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Yes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83680" y="2377440"/>
            <a:ext cx="1005840" cy="274320"/>
          </a:xfrm>
          <a:prstGeom prst="rect">
            <a:avLst/>
          </a:prstGeom>
          <a:solidFill>
            <a:srgbClr val="2563EB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29400" y="2377440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Yes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89520" y="2377440"/>
            <a:ext cx="1097280" cy="274320"/>
          </a:xfrm>
          <a:prstGeom prst="rect">
            <a:avLst/>
          </a:prstGeom>
          <a:solidFill>
            <a:srgbClr val="2563EB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35240" y="2377440"/>
            <a:ext cx="10972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Yes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5760" y="2788920"/>
            <a:ext cx="8229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 Light"/>
              </a:rPr>
              <a:t>KEY CONTRIBUTIONS (NOVELTY)</a:t>
            </a:r>
          </a:p>
        </p:txBody>
      </p:sp>
      <p:sp>
        <p:nvSpPr>
          <p:cNvPr id="91" name="Oval 90"/>
          <p:cNvSpPr/>
          <p:nvPr/>
        </p:nvSpPr>
        <p:spPr>
          <a:xfrm>
            <a:off x="365760" y="306324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5760" y="3063240"/>
            <a:ext cx="2743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" y="3063240"/>
            <a:ext cx="7955279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 Light"/>
              </a:rPr>
              <a:t>First OSS framework combining passive recon, 20+ active probes, AI-generated client report, and per-module FP guards in a single pipeline.</a:t>
            </a:r>
          </a:p>
        </p:txBody>
      </p:sp>
      <p:sp>
        <p:nvSpPr>
          <p:cNvPr id="94" name="Oval 93"/>
          <p:cNvSpPr/>
          <p:nvPr/>
        </p:nvSpPr>
        <p:spPr>
          <a:xfrm>
            <a:off x="365760" y="342900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60" y="3429000"/>
            <a:ext cx="2743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1520" y="3429000"/>
            <a:ext cx="7955279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 Light"/>
              </a:rPr>
              <a:t>Reproducible FP-reduction methodology: every category (cache_poison, IDOR, host-header, SSTI, XSS, sensitive_files, secrets) has a verifier described in this work.</a:t>
            </a:r>
          </a:p>
        </p:txBody>
      </p:sp>
      <p:sp>
        <p:nvSpPr>
          <p:cNvPr id="97" name="Oval 96"/>
          <p:cNvSpPr/>
          <p:nvPr/>
        </p:nvSpPr>
        <p:spPr>
          <a:xfrm>
            <a:off x="365760" y="379476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5760" y="3794760"/>
            <a:ext cx="27432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1520" y="3794760"/>
            <a:ext cx="7955279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 Light"/>
              </a:rPr>
              <a:t>Repo-relevance scoring filters unrelated public-GitHub secrets before they pollute analyst reports — addresses a noise source not handled by Gitleaks or trufflehog.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47472"/>
            <a:ext cx="109728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A2B5F"/>
                </a:solidFill>
                <a:latin typeface="Calibri Light"/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229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 Light"/>
              </a:rPr>
              <a:t>Honest assessment and planned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 Light"/>
              </a:rPr>
              <a:t>Mavlanov Shakhrukh  |  CS-2304  |  Astana IT University  | 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 Light"/>
              </a:rPr>
              <a:t>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9144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4023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A2B5F"/>
                </a:solidFill>
                <a:latin typeface="Calibri Light"/>
              </a:rPr>
              <a:t>Out-of-scope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4023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External recon only; internal-network pivot and post-auth scanning are out of scope.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9384"/>
            <a:ext cx="9144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9384"/>
            <a:ext cx="4023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A2B5F"/>
                </a:solidFill>
                <a:latin typeface="Calibri Light"/>
              </a:rPr>
              <a:t>LLM dependency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57984"/>
            <a:ext cx="4023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AI report quality varies by model. Ollama deepseek-r1:7b works; weaker local models hallucinate.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32888"/>
            <a:ext cx="9144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32888"/>
            <a:ext cx="4023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A2B5F"/>
                </a:solidFill>
                <a:latin typeface="Calibri Light"/>
              </a:rPr>
              <a:t>Active-probe rate 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61488"/>
            <a:ext cx="4023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Probes throttle conservatively to avoid DoS — full-coverage scans on large surfaces still take hours.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36391"/>
            <a:ext cx="9144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36391"/>
            <a:ext cx="4023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A2B5F"/>
                </a:solidFill>
                <a:latin typeface="Calibri Light"/>
              </a:rPr>
              <a:t>Authenticated 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64991"/>
            <a:ext cx="4023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Sessions are supported via cookie profiles but multi-step login automation needs manual scripting.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39896"/>
            <a:ext cx="9144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39896"/>
            <a:ext cx="40233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A2B5F"/>
                </a:solidFill>
                <a:latin typeface="Calibri Light"/>
              </a:rPr>
              <a:t>Verifier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68496"/>
            <a:ext cx="40233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FP guards cover the most-noisy categories; long-tail rules (e.g. some Nuclei templates) still need triage.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 Light"/>
              </a:rPr>
              <a:t>FUTURE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325880"/>
            <a:ext cx="2743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 Light"/>
              </a:rPr>
              <a:t>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1325880"/>
            <a:ext cx="3749039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 Light"/>
              </a:rPr>
              <a:t>Authenticated-scan profiles: integrate Playwright for multi-step login replay.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1828800"/>
            <a:ext cx="2743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 Light"/>
              </a:rPr>
              <a:t>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1828800"/>
            <a:ext cx="3749039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 Light"/>
              </a:rPr>
              <a:t>Distributed scanning: shard live-host probes across worker nodes.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331720"/>
            <a:ext cx="2743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 Light"/>
              </a:rPr>
              <a:t>3.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331720"/>
            <a:ext cx="3749039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 Light"/>
              </a:rPr>
              <a:t>Vector-database memory: store findings across runs for diff and trend analysis.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834640"/>
            <a:ext cx="2743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 Light"/>
              </a:rPr>
              <a:t>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834640"/>
            <a:ext cx="3749039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 Light"/>
              </a:rPr>
              <a:t>Fine-tuned local LLM for security reporting (RAG over OWASP / CVE corpora).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337560"/>
            <a:ext cx="2743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 Light"/>
              </a:rPr>
              <a:t>5.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3337560"/>
            <a:ext cx="3749039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 Light"/>
              </a:rPr>
              <a:t>Continuous-scan mode: hourly diff scans against the same surface, alert on deltas.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840480"/>
            <a:ext cx="2743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 Light"/>
              </a:rPr>
              <a:t>6.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840480"/>
            <a:ext cx="3749039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 Light"/>
              </a:rPr>
              <a:t>Browser-based dashboard: replace static HTML with a live FastAPI + React 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47472"/>
            <a:ext cx="109728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A2B5F"/>
                </a:solidFill>
                <a:latin typeface="Calibri Light"/>
              </a:rPr>
              <a:t>Tools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229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 Light"/>
              </a:rPr>
              <a:t>What ReconX is built with and what it integrates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 Light"/>
              </a:rPr>
              <a:t>Mavlanov Shakhrukh  |  CS-2304  |  Astana IT University  |  June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2834640" cy="178308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005840"/>
            <a:ext cx="2834640" cy="29260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33272"/>
            <a:ext cx="26517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Core /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Python 3.13 (CLI: main.py)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72768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Concurrent recon via ThreadPoolExecutor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73936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requests + urllib3 (HTTP)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75104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httpx (async probes)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76272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Jinja2 (HTML templating)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377440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python-pptx (this deck)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005840"/>
            <a:ext cx="2834640" cy="178308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1005840"/>
            <a:ext cx="2834640" cy="292608"/>
          </a:xfrm>
          <a:prstGeom prst="roundRect">
            <a:avLst>
              <a:gd name="adj" fmla="val 12000"/>
            </a:avLst>
          </a:prstGeom>
          <a:solidFill>
            <a:srgbClr val="1A2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033272"/>
            <a:ext cx="26517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Recon / Discovery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371600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amass · subfinder · assetfinder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572768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crt.sh certificate transparency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73936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nmap / masscan / rustscan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1975104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httpx · gowitness (screenshots)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176272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wappalyzer / WhatWeb (techstack)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377440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testssl.sh (TLS audit)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005840"/>
            <a:ext cx="2743200" cy="178308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0" y="1005840"/>
            <a:ext cx="2743200" cy="292608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033272"/>
            <a:ext cx="25603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Active Probes / Scanners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371600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nuclei (template engine)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572768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dalfox (XSS)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773936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sqlmap (SQL injection)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975104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gitleaks · trufflehog (secrets)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176272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ffuf (fuzzer / directory brute)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377440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Interactsh (OOB SSRF callback)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2880360"/>
            <a:ext cx="2834640" cy="173736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4320" y="2880360"/>
            <a:ext cx="2834640" cy="29260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2907792"/>
            <a:ext cx="26517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AI / 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3246120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Ollama (local LLM runtime)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3447288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deepseek-r1 · qwen2.5 · llama3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3648456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OpenAI-compatible API 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3849624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markdown → HTML renderer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4050792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bleach (HTML sanitiser)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251960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Deterministic static fallback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2880360"/>
            <a:ext cx="2834640" cy="173736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00400" y="2880360"/>
            <a:ext cx="2834640" cy="292608"/>
          </a:xfrm>
          <a:prstGeom prst="roundRect">
            <a:avLst>
              <a:gd name="adj" fmla="val 12000"/>
            </a:avLst>
          </a:prstGeom>
          <a:solidFill>
            <a:srgbClr val="1A2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7560" y="2907792"/>
            <a:ext cx="26517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Integration / Output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3246120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python-telegram-bot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3447288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JSON + HTML + Markdown reports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3648456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Per-module artifact directories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3849624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Diff-mode (run-to-run delta)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37560" y="4050792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PyYAML (config.yaml)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37560" y="4251960"/>
            <a:ext cx="256032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dotenv (.env secrets)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26480" y="2880360"/>
            <a:ext cx="2743200" cy="173736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26480" y="2880360"/>
            <a:ext cx="2743200" cy="292608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2907792"/>
            <a:ext cx="25603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Dev / Testing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246120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pytest (171 tests passing)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447288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pytest-mock · responses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648456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Git + GitHub for VCS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849624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Kali Linux 2026 dev environment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050792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Chromium (headless screenshots)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251960"/>
            <a:ext cx="2468880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• VS Code / Vim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47472"/>
            <a:ext cx="109728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822960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1A2B5F"/>
                </a:solidFill>
                <a:latin typeface="Calibri Light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2296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 Light"/>
              </a:rPr>
              <a:t>Standards, frameworks, and published research consulted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 Light"/>
              </a:rPr>
              <a:t>Mavlanov Shakhrukh  |  CS-2304  |  Astana IT University  | 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2926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 Light"/>
              </a:rPr>
              <a:t>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OWASP Top 10 —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005840"/>
            <a:ext cx="4983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owasp.org/Top10/  — A01 Broken Access Control … A10 SSRF. ReconX findings tag CWE/OWASP categories.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07592"/>
            <a:ext cx="2926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 Light"/>
              </a:rPr>
              <a:t>[2]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07592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OWASP API Security Top 10 —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307592"/>
            <a:ext cx="4983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owasp.org/API-Security/  — used as the taxonomy for idor_probe and api_schema_audit.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09344"/>
            <a:ext cx="2926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 Light"/>
              </a:rPr>
              <a:t>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09344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OWASP ASVS v4 / WSTG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609344"/>
            <a:ext cx="4983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owasp.org/www-project-application-security-verification-standard/ — verification levels for the report.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911096"/>
            <a:ext cx="2926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 Light"/>
              </a:rPr>
              <a:t>[4]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911096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PortSwigger Web Security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1911096"/>
            <a:ext cx="4983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portswigger.net/web-security — cache poisoning, host header injection, prototype pollution, SSTI references.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212848"/>
            <a:ext cx="2926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 Light"/>
              </a:rPr>
              <a:t>[5]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212848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Nuclei — ProjectDiscovery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212848"/>
            <a:ext cx="4983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github.com/projectdiscovery/nuclei — template engine integrated by modules/vulnscan.py.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514600"/>
            <a:ext cx="2926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 Light"/>
              </a:rPr>
              <a:t>[6]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514600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Dalfox — Cross-Site-Scripting scanner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2514600"/>
            <a:ext cx="4983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github.com/hahwul/dalfox — used by modules/xss.py for confirmed XSS detection.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816352"/>
            <a:ext cx="2926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 Light"/>
              </a:rPr>
              <a:t>[7]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816352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Gitleaks — open-source secret scanning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816352"/>
            <a:ext cx="4983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github.com/gitleaks/gitleaks — used by modules/secret_scanner.py.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118104"/>
            <a:ext cx="2926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 Light"/>
              </a:rPr>
              <a:t>[8]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118104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MITRE CWE &amp; ATT&amp;CK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3118104"/>
            <a:ext cx="4983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cwe.mitre.org · attack.mitre.org — finding metadata tagged with CWE-IDs and ATT&amp;CK techniques.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419856"/>
            <a:ext cx="2926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 Light"/>
              </a:rPr>
              <a:t>[9]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419856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NIST SP 800-115 — Technical Guide to Information Security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3419856"/>
            <a:ext cx="4983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csrc.nist.gov/publications/detail/sp/800-115/final — methodology baseline for external pentesting.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721608"/>
            <a:ext cx="2926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 Light"/>
              </a:rPr>
              <a:t>[10]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721608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CIS Controls v8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3721608"/>
            <a:ext cx="4983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cisecurity.org/controls — control mapping for the remediation recommendations.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023360"/>
            <a:ext cx="2926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 Light"/>
              </a:rPr>
              <a:t>[11]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023360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Anthropic / Ollama / DeepSeek documentation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4023360"/>
            <a:ext cx="4983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ollama.com/library · deepseek.com — LLM runtime and model used by modules/ai_report.py.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325112"/>
            <a:ext cx="2926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 Light"/>
              </a:rPr>
              <a:t>[12]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325112"/>
            <a:ext cx="3017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1A2B5F"/>
                </a:solidFill>
                <a:latin typeface="Calibri Light"/>
              </a:rPr>
              <a:t>Verizon Data Breach Investigations Report (DBIR) 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4760" y="4325112"/>
            <a:ext cx="49834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 Light"/>
              </a:rPr>
              <a:t>verizon.com/business/resources/reports/dbir/ — basis for the motivation slide statistic.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4160520" cy="1280160"/>
          </a:xfrm>
          <a:prstGeom prst="roundRect">
            <a:avLst>
              <a:gd name="adj" fmla="val 5000"/>
            </a:avLst>
          </a:prstGeom>
          <a:solidFill>
            <a:srgbClr val="1A2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91440" cy="1280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 Light"/>
              </a:rPr>
              <a:t>ReconX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84048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93C5FD"/>
                </a:solidFill>
                <a:latin typeface="Calibri Light"/>
              </a:rPr>
              <a:t>Modular Python pipeline integrating passive recon, 20+ active probes, and AI-augmented reporting in a single open-source tool.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097280"/>
            <a:ext cx="4160520" cy="1280160"/>
          </a:xfrm>
          <a:prstGeom prst="roundRect">
            <a:avLst>
              <a:gd name="adj" fmla="val 5000"/>
            </a:avLst>
          </a:prstGeom>
          <a:solidFill>
            <a:srgbClr val="1A2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17720" y="1097280"/>
            <a:ext cx="91440" cy="1280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 Light"/>
              </a:rPr>
              <a:t>False-Positive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554480"/>
            <a:ext cx="384048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93C5FD"/>
                </a:solidFill>
                <a:latin typeface="Calibri Light"/>
              </a:rPr>
              <a:t>Per-module verifiers cut report noise across cache-poison, host-header, IDOR, prototype-pollution, SSTI, XSS, sensitive files, and secrets categories.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514600"/>
            <a:ext cx="4160520" cy="1280160"/>
          </a:xfrm>
          <a:prstGeom prst="roundRect">
            <a:avLst>
              <a:gd name="adj" fmla="val 5000"/>
            </a:avLst>
          </a:prstGeom>
          <a:solidFill>
            <a:srgbClr val="1A2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91440" cy="1280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 Light"/>
              </a:rPr>
              <a:t>Research Gap 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71800"/>
            <a:ext cx="384048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93C5FD"/>
                </a:solidFill>
                <a:latin typeface="Calibri Light"/>
              </a:rPr>
              <a:t>First OSS framework satisfying recon + active probes + AI report + FP guards + single-run delivery — validated on real external targets.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514600"/>
            <a:ext cx="4160520" cy="1280160"/>
          </a:xfrm>
          <a:prstGeom prst="roundRect">
            <a:avLst>
              <a:gd name="adj" fmla="val 5000"/>
            </a:avLst>
          </a:prstGeom>
          <a:solidFill>
            <a:srgbClr val="1A2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20" y="2514600"/>
            <a:ext cx="91440" cy="1280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60604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 Light"/>
              </a:rPr>
              <a:t>Practical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71800"/>
            <a:ext cx="3840480" cy="7772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93C5FD"/>
                </a:solidFill>
                <a:latin typeface="Calibri Light"/>
              </a:rPr>
              <a:t>Filterable HTML report, structured JSON, Telegram summary; reproducible artifacts under output/&lt;date&gt;_&lt;target&gt;/ enable diff and re-run.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6052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 Light"/>
              </a:rPr>
              <a:t>THANK YOU FOR YOUR ATTENTION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416552"/>
            <a:ext cx="8412480" cy="2743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 Light"/>
              </a:rPr>
              <a:t>Questions?   |   Mavlanov Shakhrukh   |   CS-2304   |   Supervisor: PhD Amirova Akzhibek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